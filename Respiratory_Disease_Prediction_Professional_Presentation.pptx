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109728" cy="4480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10149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Respiratory Disease</a:t>
            </a:r>
            <a:br/>
            <a:r>
              <a:t>Prediction using Machine Learning</a:t>
            </a:r>
          </a:p>
          <a:p>
            <a:pPr>
              <a:spcBef>
                <a:spcPts val="1200"/>
              </a:spcBef>
              <a:defRPr sz="2000">
                <a:solidFill>
                  <a:srgbClr val="BED7E6"/>
                </a:solidFill>
                <a:latin typeface="Aptos"/>
              </a:defRPr>
            </a:pPr>
            <a:r>
              <a:t>Lung Auscultation Sound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49834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Machine Learning Mini Project</a:t>
            </a:r>
          </a:p>
          <a:p>
            <a:pPr>
              <a:defRPr sz="1300">
                <a:solidFill>
                  <a:srgbClr val="BED7E6"/>
                </a:solidFill>
                <a:latin typeface="Aptos"/>
              </a:defRPr>
            </a:pPr>
            <a:r>
              <a:t>SVM  •  Random Forest  •  ANN  •  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From respiratory audio to disease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874519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3063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Respiratory sounds contain patterns that can help distinguish different disease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1874519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30552"/>
            <a:ext cx="3063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Reduce noise, extract MFCC features, train four classification models, and compare their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087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508760"/>
            <a:ext cx="73152" cy="1874519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130552"/>
            <a:ext cx="3063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The final models were evaluated using accuracy, precision, recall, F1-score, confusion matrices, ROC and precision-recall curves.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2D36"/>
                </a:solidFill>
                <a:latin typeface="Aptos"/>
              </a:defRPr>
            </a:pPr>
            <a:r>
              <a:t>• Focus: simple, requirement-based ML/DL pipeline</a:t>
            </a:r>
          </a:p>
          <a:p>
            <a:pPr>
              <a:spcAft>
                <a:spcPts val="1200"/>
              </a:spcAft>
              <a:defRPr sz="1600">
                <a:solidFill>
                  <a:srgbClr val="262D36"/>
                </a:solidFill>
                <a:latin typeface="Aptos"/>
              </a:defRPr>
            </a:pPr>
            <a:r>
              <a:t>• Dataset: respiratory sound recordings with patient diagnosis labels</a:t>
            </a:r>
          </a:p>
          <a:p>
            <a:pPr>
              <a:spcAft>
                <a:spcPts val="1200"/>
              </a:spcAft>
              <a:defRPr sz="1600">
                <a:solidFill>
                  <a:srgbClr val="262D36"/>
                </a:solidFill>
                <a:latin typeface="Aptos"/>
              </a:defRPr>
            </a:pPr>
            <a:r>
              <a:t>• Best final accuracy: 86.96% — Random Forest and 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Respiratory Sound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7432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508760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920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331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Audio recordings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08760"/>
            <a:ext cx="27432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508760"/>
            <a:ext cx="73152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673351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30552"/>
            <a:ext cx="2331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508760"/>
            <a:ext cx="2240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508760"/>
            <a:ext cx="73152" cy="1508760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67335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920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30552"/>
            <a:ext cx="1828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Annotations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08760"/>
            <a:ext cx="25146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508760"/>
            <a:ext cx="73152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673351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30552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Disease classes*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10515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2D36"/>
                </a:solidFill>
                <a:latin typeface="Aptos"/>
              </a:defRPr>
            </a:pPr>
            <a:r>
              <a:t>• Each recording is paired with respiratory-cycle annotation information.</a:t>
            </a:r>
          </a:p>
          <a:p>
            <a:pPr>
              <a:spcAft>
                <a:spcPts val="1200"/>
              </a:spcAft>
              <a:defRPr sz="1500">
                <a:solidFill>
                  <a:srgbClr val="262D36"/>
                </a:solidFill>
                <a:latin typeface="Aptos"/>
              </a:defRPr>
            </a:pPr>
            <a:r>
              <a:t>• Patient diagnosis information is used to assign disease labels to audio recordings.</a:t>
            </a:r>
          </a:p>
          <a:p>
            <a:pPr>
              <a:spcAft>
                <a:spcPts val="1200"/>
              </a:spcAft>
              <a:defRPr sz="1500">
                <a:solidFill>
                  <a:srgbClr val="262D36"/>
                </a:solidFill>
                <a:latin typeface="Aptos"/>
              </a:defRPr>
            </a:pPr>
            <a:r>
              <a:t>• Class distribution is highly imbalanced: COPD is the dominant class.</a:t>
            </a:r>
          </a:p>
          <a:p>
            <a:pPr>
              <a:spcAft>
                <a:spcPts val="1200"/>
              </a:spcAft>
              <a:defRPr sz="1500">
                <a:solidFill>
                  <a:srgbClr val="262D36"/>
                </a:solidFill>
                <a:latin typeface="Aptos"/>
              </a:defRPr>
            </a:pPr>
            <a:r>
              <a:t>• * One Asthma sample was excluded before stratified train-test splitting because a single sample cannot be distributed across both sets.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End-to-end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64592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897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606040"/>
            <a:ext cx="14264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A4A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46120"/>
            <a:ext cx="142646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2D36"/>
                </a:solidFill>
                <a:latin typeface="Aptos"/>
              </a:defRPr>
            </a:pPr>
            <a:r>
              <a:t>Load WAV recordings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874519"/>
            <a:ext cx="164592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0574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89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2606040"/>
            <a:ext cx="14264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A4A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3246120"/>
            <a:ext cx="142646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2D36"/>
                </a:solidFill>
                <a:latin typeface="Aptos"/>
              </a:defRPr>
            </a:pPr>
            <a:r>
              <a:t>Noise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874519"/>
            <a:ext cx="164592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89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06040"/>
            <a:ext cx="14264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A4A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246120"/>
            <a:ext cx="142646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2D36"/>
                </a:solidFill>
                <a:latin typeface="Aptos"/>
              </a:defRPr>
            </a:pPr>
            <a:r>
              <a:t>MFCC extraction + normalization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874519"/>
            <a:ext cx="164592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89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606040"/>
            <a:ext cx="14264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A4A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246120"/>
            <a:ext cx="142646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2D36"/>
                </a:solidFill>
                <a:latin typeface="Aptos"/>
              </a:defRPr>
            </a:pPr>
            <a:r>
              <a:t>80% training / 20%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874519"/>
            <a:ext cx="164592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0574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89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606040"/>
            <a:ext cx="14264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A4A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3246120"/>
            <a:ext cx="142646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2D36"/>
                </a:solidFill>
                <a:latin typeface="Aptos"/>
              </a:defRPr>
            </a:pPr>
            <a:r>
              <a:t>SVM • RF • ANN • CNN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1874519"/>
            <a:ext cx="164592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20574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897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2606040"/>
            <a:ext cx="14264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A4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3246120"/>
            <a:ext cx="142646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2D36"/>
                </a:solidFill>
                <a:latin typeface="Aptos"/>
              </a:defRPr>
            </a:pPr>
            <a:r>
              <a:t>Metrics + diagnostic curves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Audio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Preparing respiratory sounds for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8328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3200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1. Noise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971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The noisereduce library is used to reduce unwanted background noise while preserving the audio signal length.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08760"/>
            <a:ext cx="338328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508760"/>
            <a:ext cx="73152" cy="3200400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2. MFCC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130552"/>
            <a:ext cx="2971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13 Mel-Frequency Cepstral Coefficients are extracted to represent the spectral characteristics of the respiratory sound.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508760"/>
            <a:ext cx="338328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508760"/>
            <a:ext cx="73152" cy="3200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3.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130552"/>
            <a:ext cx="2971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MFCC values are standardized using mean and standard deviation so that the feature scale is suitable for model 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2D36"/>
                </a:solidFill>
                <a:latin typeface="Aptos"/>
              </a:defRPr>
            </a:pPr>
            <a:r>
              <a:t>• Traditional ML models use a fixed 13-value MFCC feature vector obtained by averaging across time.</a:t>
            </a:r>
          </a:p>
          <a:p>
            <a:pPr>
              <a:spcAft>
                <a:spcPts val="1200"/>
              </a:spcAft>
              <a:defRPr sz="1400">
                <a:solidFill>
                  <a:srgbClr val="262D36"/>
                </a:solidFill>
                <a:latin typeface="Aptos"/>
              </a:defRPr>
            </a:pPr>
            <a:r>
              <a:t>• CNN uses the MFCC time-frequency representation.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Models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Four models required by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SVM — Support Vector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Finds a decision boundary that separates classes in the feature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6916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73351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3055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Combines 100 decision trees and uses their collective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2120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20440"/>
            <a:ext cx="73152" cy="16916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8503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ANN — Artificial Neural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4223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A feed-forward neural network with dense layers learns nonlinear relationships between MFCC features and disease classes.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2120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73152" cy="1691640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8503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CNN — Convolutional Neural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4223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Learns local patterns from the MFCC time-frequency representation using convolution and pooling layers.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Training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Fixed split used for all final comparisons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75488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73152" cy="1874519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73351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Training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30552"/>
            <a:ext cx="43434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735 recordings</a:t>
            </a:r>
            <a:br/>
            <a:r>
              <a:t>80% of the usable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508760"/>
            <a:ext cx="475488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508760"/>
            <a:ext cx="73152" cy="1874519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73351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Testing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3434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184 recordings</a:t>
            </a:r>
            <a:br/>
            <a:r>
              <a:t>20% of the usable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2D36"/>
                </a:solidFill>
                <a:latin typeface="Aptos"/>
              </a:defRPr>
            </a:pPr>
            <a:r>
              <a:t>• Stratified splitting was used so the class distribution is preserved as far as possible.</a:t>
            </a:r>
          </a:p>
          <a:p>
            <a:pPr>
              <a:spcAft>
                <a:spcPts val="1200"/>
              </a:spcAft>
              <a:defRPr sz="1500">
                <a:solidFill>
                  <a:srgbClr val="262D36"/>
                </a:solidFill>
                <a:latin typeface="Aptos"/>
              </a:defRPr>
            </a:pPr>
            <a:r>
              <a:t>• The dataset is strongly imbalanced, with COPD accounting for most test samples.</a:t>
            </a:r>
          </a:p>
          <a:p>
            <a:pPr>
              <a:spcAft>
                <a:spcPts val="1200"/>
              </a:spcAft>
              <a:defRPr sz="1500">
                <a:solidFill>
                  <a:srgbClr val="262D36"/>
                </a:solidFill>
                <a:latin typeface="Aptos"/>
              </a:defRPr>
            </a:pPr>
            <a:r>
              <a:t>• Therefore, accuracy alone does not fully describe minority-class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Final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Test-set accuracy after the required 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65960" y="16002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29184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62D36"/>
                          </a:solidFill>
                          <a:latin typeface="Aptos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62D36"/>
                          </a:solidFill>
                          <a:latin typeface="Aptos"/>
                        </a:defRPr>
                      </a:pPr>
                      <a:r>
                        <a:t>86.41%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62D36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62D36"/>
                          </a:solidFill>
                          <a:latin typeface="Aptos"/>
                        </a:defRPr>
                      </a:pPr>
                      <a:r>
                        <a:t>86.96%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62D36"/>
                          </a:solidFill>
                          <a:latin typeface="Aptos"/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62D36"/>
                          </a:solidFill>
                          <a:latin typeface="Aptos"/>
                        </a:defRPr>
                      </a:pPr>
                      <a:r>
                        <a:t>86.41%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62D36"/>
                          </a:solidFill>
                          <a:latin typeface="Aptos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62D36"/>
                          </a:solidFill>
                          <a:latin typeface="Aptos"/>
                        </a:defRPr>
                      </a:pPr>
                      <a:r>
                        <a:t>86.96%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20240" y="5074920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897B"/>
                </a:solidFill>
                <a:latin typeface="Aptos Display"/>
              </a:defRPr>
            </a:pPr>
            <a:r>
              <a:t>Highest accuracy: Random Forest and CNN — 86.96%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Results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What the final evaluation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Random Forest and CNN achieved the highest overall accuracy at 86.96%.</a:t>
            </a:r>
          </a:p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SVM and ANN achieved 86.41% accuracy.</a:t>
            </a:r>
          </a:p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All models perform much better on the majority COPD class than on minority classes.</a:t>
            </a:r>
          </a:p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The weighted metrics are more informative than accuracy alone because the dataset is highly imbalanced.</a:t>
            </a:r>
          </a:p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The project demonstrates a complete audio-to-classification workflow, but it is not a clinical diagnostic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Confusion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Insert the four final confusion-matrix images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2057400"/>
          </a:xfrm>
          <a:prstGeom prst="roundRect">
            <a:avLst/>
          </a:prstGeom>
          <a:solidFill>
            <a:srgbClr val="FAFBFD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800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5C6774"/>
                </a:solidFill>
                <a:latin typeface="Aptos"/>
              </a:defRPr>
            </a:pPr>
            <a:r>
              <a:t>PASTE FINAL GRAPH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2057400"/>
          </a:xfrm>
          <a:prstGeom prst="roundRect">
            <a:avLst/>
          </a:prstGeom>
          <a:solidFill>
            <a:srgbClr val="FAFBFD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84248"/>
            <a:ext cx="4800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5C6774"/>
                </a:solidFill>
                <a:latin typeface="Aptos"/>
              </a:defRPr>
            </a:pPr>
            <a:r>
              <a:t>PASTE FINAL GRAPH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257800" cy="2057400"/>
          </a:xfrm>
          <a:prstGeom prst="roundRect">
            <a:avLst/>
          </a:prstGeom>
          <a:solidFill>
            <a:srgbClr val="FAFBFD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959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  <a:latin typeface="Aptos"/>
              </a:defRPr>
            </a:pPr>
            <a:r>
              <a:t>ANN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53128"/>
            <a:ext cx="4800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5C6774"/>
                </a:solidFill>
                <a:latin typeface="Aptos"/>
              </a:defRPr>
            </a:pPr>
            <a:r>
              <a:t>PASTE FINAL GRAPH 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86200"/>
            <a:ext cx="5257800" cy="2057400"/>
          </a:xfrm>
          <a:prstGeom prst="roundRect">
            <a:avLst/>
          </a:prstGeom>
          <a:solidFill>
            <a:srgbClr val="FAFBFD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959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53128"/>
            <a:ext cx="4800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5C6774"/>
                </a:solidFill>
                <a:latin typeface="Aptos"/>
              </a:defRPr>
            </a:pPr>
            <a:r>
              <a:t>PASTE FINAL GRAPH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10</a:t>
            </a:r>
          </a:p>
        </p:txBody>
      </p:sp>
      <p:pic>
        <p:nvPicPr>
          <p:cNvPr id="19" name="Picture 18" descr="svm_confusion_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3740"/>
            <a:ext cx="4719955" cy="1372870"/>
          </a:xfrm>
          <a:prstGeom prst="rect">
            <a:avLst/>
          </a:prstGeom>
        </p:spPr>
      </p:pic>
      <p:pic>
        <p:nvPicPr>
          <p:cNvPr id="20" name="Picture 19" descr="random_forest_confusion_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5" y="1847215"/>
            <a:ext cx="4823460" cy="1509395"/>
          </a:xfrm>
          <a:prstGeom prst="rect">
            <a:avLst/>
          </a:prstGeom>
        </p:spPr>
      </p:pic>
      <p:pic>
        <p:nvPicPr>
          <p:cNvPr id="21" name="Picture 20" descr="ann_confusion_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75" y="4353560"/>
            <a:ext cx="4605655" cy="1306830"/>
          </a:xfrm>
          <a:prstGeom prst="rect">
            <a:avLst/>
          </a:prstGeom>
        </p:spPr>
      </p:pic>
      <p:pic>
        <p:nvPicPr>
          <p:cNvPr id="22" name="Picture 21" descr="cnn_confusion_matri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315" y="4264660"/>
            <a:ext cx="4626610" cy="1445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ROC Curve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Insert your final ROC curve image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508760"/>
            <a:ext cx="10149840" cy="4389120"/>
          </a:xfrm>
          <a:prstGeom prst="roundRect">
            <a:avLst/>
          </a:prstGeom>
          <a:solidFill>
            <a:srgbClr val="FAFBFD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C6774"/>
                </a:solidFill>
                <a:latin typeface="Aptos Display"/>
              </a:defRPr>
            </a:pPr>
            <a:r>
              <a:t>PASTE FINAL ROC CURVE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11</a:t>
            </a:r>
          </a:p>
        </p:txBody>
      </p:sp>
      <p:pic>
        <p:nvPicPr>
          <p:cNvPr id="9" name="Picture 8" descr="roc_curve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085" y="1859280"/>
            <a:ext cx="9052560" cy="3785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Precision–Recall Curve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Insert your final precision-recall curve image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508760"/>
            <a:ext cx="10149840" cy="4389120"/>
          </a:xfrm>
          <a:prstGeom prst="roundRect">
            <a:avLst/>
          </a:prstGeom>
          <a:solidFill>
            <a:srgbClr val="FAFBFD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C6774"/>
                </a:solidFill>
                <a:latin typeface="Aptos Display"/>
              </a:defRPr>
            </a:pPr>
            <a:r>
              <a:t>PASTE FINAL PRECISION–RECALL CURVE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12</a:t>
            </a:r>
          </a:p>
        </p:txBody>
      </p:sp>
      <p:pic>
        <p:nvPicPr>
          <p:cNvPr id="9" name="Picture 8" descr="precision_recall_curve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085" y="1816100"/>
            <a:ext cx="9052560" cy="3906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Overall performance and practical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3566160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2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Accuracy: 86.41%</a:t>
            </a:r>
            <a:br/>
            <a:br/>
            <a:r>
              <a:t>Simple and effective baseline model.</a:t>
            </a:r>
            <a:br/>
            <a:br/>
            <a:r>
              <a:t>Performance is strongly influenced by the class imbalance.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73152" cy="35661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276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84832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Accuracy: 86.96%</a:t>
            </a:r>
            <a:br/>
            <a:br/>
            <a:r>
              <a:t>Highest overall accuracy with CNN.</a:t>
            </a:r>
            <a:br/>
            <a:br/>
            <a:r>
              <a:t>Good baseline for tabular MFCC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73152" cy="3566160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276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ANN / 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84832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ANN: 86.41%</a:t>
            </a:r>
            <a:br/>
            <a:r>
              <a:t>CNN: 86.96%</a:t>
            </a:r>
            <a:br/>
            <a:br/>
            <a:r>
              <a:t>CNN benefits from retaining the MFCC time-frequency 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Important points for a responsible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The dataset is highly imbalanced, with COPD dominating the recordings.</a:t>
            </a:r>
          </a:p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Several minority classes have very few samples, which limits reliable class-specific learning.</a:t>
            </a:r>
          </a:p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The single Asthma sample was excluded before stratified splitting.</a:t>
            </a:r>
          </a:p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Reported results are experimental machine-learning results and should not be interpreted as clinical diagnosis.</a:t>
            </a:r>
          </a:p>
          <a:p>
            <a:pPr>
              <a:spcAft>
                <a:spcPts val="12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t>• Performance may change with a larger, more balanced dataset and additional recordings.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Aptos"/>
              </a:defRPr>
            </a:pPr>
            <a:r>
              <a:t>Possible improvements without changing the current project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320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3832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1828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Better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Use a larger and more balanced respiratory sound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08760"/>
            <a:ext cx="33832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508760"/>
            <a:ext cx="73152" cy="1828800"/>
          </a:xfrm>
          <a:prstGeom prst="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130552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Explore improved audio cleaning and feature preparation.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508760"/>
            <a:ext cx="33832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508760"/>
            <a:ext cx="73152" cy="1828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A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130552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6"/>
                </a:solidFill>
                <a:latin typeface="Aptos"/>
              </a:defRPr>
            </a:pPr>
            <a:r>
              <a:t>Use stronger validation and class-aware evaluation on larger datasets.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2D36"/>
                </a:solidFill>
                <a:latin typeface="Aptos"/>
              </a:defRPr>
            </a:pPr>
            <a:r>
              <a:t>• The current project intentionally focuses on the required SVM, Random Forest, ANN and CNN models.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E1EBF2"/>
                </a:solidFill>
                <a:latin typeface="Aptos"/>
              </a:defRPr>
            </a:pPr>
            <a:r>
              <a:t>• The project successfully builds an end-to-end respiratory sound classification pipeline.</a:t>
            </a:r>
          </a:p>
          <a:p>
            <a:pPr>
              <a:spcAft>
                <a:spcPts val="1600"/>
              </a:spcAft>
              <a:defRPr sz="1900">
                <a:solidFill>
                  <a:srgbClr val="E1EBF2"/>
                </a:solidFill>
                <a:latin typeface="Aptos"/>
              </a:defRPr>
            </a:pPr>
            <a:r>
              <a:t>• Noise reduction, MFCC extraction and normalization prepare the audio for model training.</a:t>
            </a:r>
          </a:p>
          <a:p>
            <a:pPr>
              <a:spcAft>
                <a:spcPts val="1600"/>
              </a:spcAft>
              <a:defRPr sz="1900">
                <a:solidFill>
                  <a:srgbClr val="E1EBF2"/>
                </a:solidFill>
                <a:latin typeface="Aptos"/>
              </a:defRPr>
            </a:pPr>
            <a:r>
              <a:t>• Four required models were implemented and evaluated.</a:t>
            </a:r>
          </a:p>
          <a:p>
            <a:pPr>
              <a:spcAft>
                <a:spcPts val="1600"/>
              </a:spcAft>
              <a:defRPr sz="1900">
                <a:solidFill>
                  <a:srgbClr val="E1EBF2"/>
                </a:solidFill>
                <a:latin typeface="Aptos"/>
              </a:defRPr>
            </a:pPr>
            <a:r>
              <a:t>• Random Forest and CNN achieved the highest final accuracy of 86.96%.</a:t>
            </a:r>
          </a:p>
          <a:p>
            <a:pPr>
              <a:spcAft>
                <a:spcPts val="1600"/>
              </a:spcAft>
              <a:defRPr sz="1900">
                <a:solidFill>
                  <a:srgbClr val="E1EBF2"/>
                </a:solidFill>
                <a:latin typeface="Aptos"/>
              </a:defRPr>
            </a:pPr>
            <a:r>
              <a:t>• Because of class imbalance, the results must be interpreted using multiple evaluation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97B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4"/>
                </a:solidFill>
                <a:latin typeface="Aptos"/>
              </a:defRPr>
            </a:pPr>
            <a:r>
              <a:t>Respiratory Disease Prediction using Machine Learning   •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6642</Words>
  <Application>WPS Presentation</Application>
  <PresentationFormat>On-screen Show (4:3)</PresentationFormat>
  <Paragraphs>298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Roopesh Poojary</cp:lastModifiedBy>
  <cp:revision>2</cp:revision>
  <dcterms:created xsi:type="dcterms:W3CDTF">2013-01-27T09:14:00Z</dcterms:created>
  <dcterms:modified xsi:type="dcterms:W3CDTF">2026-10-07T05:23:36Z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594A488561024074BF519B5DB93D3FB4_12</vt:lpwstr>
  </property>
  <property fmtid="{D5CDD505-2E9C-101B-9397-08002B2CF9AE}" pid="3" name="KSOProductBuildVer">
    <vt:lpwstr>2057-12.2.0.23206</vt:lpwstr>
  </property>
</Properties>
</file>